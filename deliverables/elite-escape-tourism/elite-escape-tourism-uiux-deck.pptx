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intent: Geist 700 for the title, Geist 500 for the subtitle (Geist/Outfit variable font — substituted here with Arial for portable rendering). Background is a vertical gradient #0A0A0A → warm dark, with an abstract dune motif standing in for a golden-hour desert-safari photo. No footer, no slide number, per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split: left greyed/low-opacity 'Before', right full-color 'After'. Accent stripe (#FF6B35) tops the After panel; a 2px accent divider separates the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Full-width hero, diagonal split feel achieved via a soft low-opacity dune band over the top half and a clean white card for the bottom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 deliberately set in Times New Roman to visualize the unstyled browser default; right column intent is Geist variable at 400/500/600/700.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stacked before/after rows: background surface, accent color, shadow tint — separated by thin accent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2x2 grid: each panel labeled Before (grey chip) or After (accent chip); simple boxes stand in for real content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states of the same CTA button rendered side by side: hover, press, focus ring, skeleton loader.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Row-based before/after comparison across four copy touchpoints: button, heading, FAQ,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Three-row showcase: generic stock icons vs. a custom desert-motif set (camel, dhow, Burj Khalifa line-art), then favicon before/after.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div-soup, pixel widths, z-index:9999, debug comments, missing alt text. Right: semantic nav/main/article, rem-friendly, clean z-index scale, alt text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dark KPI cards on a light background, accent top border, simple line-art icon, big stat, teal progress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slide: dark left (audit offer), light right (three-tier pricing, Growth tier highlighted in accent). Bottom CTA spans full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91695" cy="14630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"/>
            <a:ext cx="12191695" cy="146304"/>
          </a:xfrm>
          <a:prstGeom prst="rect">
            <a:avLst/>
          </a:prstGeom>
          <a:solidFill>
            <a:srgbClr val="0B0A0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"/>
            <a:ext cx="12191695" cy="146304"/>
          </a:xfrm>
          <a:prstGeom prst="rect">
            <a:avLst/>
          </a:prstGeom>
          <a:solidFill>
            <a:srgbClr val="0B0B0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0"/>
            <a:ext cx="12191695" cy="146304"/>
          </a:xfrm>
          <a:prstGeom prst="rect">
            <a:avLst/>
          </a:prstGeom>
          <a:solidFill>
            <a:srgbClr val="0B0B0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5800"/>
            <a:ext cx="12191695" cy="146304"/>
          </a:xfrm>
          <a:prstGeom prst="rect">
            <a:avLst/>
          </a:prstGeom>
          <a:solidFill>
            <a:srgbClr val="0C0B0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822960"/>
            <a:ext cx="12191695" cy="146304"/>
          </a:xfrm>
          <a:prstGeom prst="rect">
            <a:avLst/>
          </a:prstGeom>
          <a:solidFill>
            <a:srgbClr val="0C0B0A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60120"/>
            <a:ext cx="12191695" cy="146304"/>
          </a:xfrm>
          <a:prstGeom prst="rect">
            <a:avLst/>
          </a:prstGeom>
          <a:solidFill>
            <a:srgbClr val="0D0B0A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097280"/>
            <a:ext cx="12191695" cy="146304"/>
          </a:xfrm>
          <a:prstGeom prst="rect">
            <a:avLst/>
          </a:prstGeom>
          <a:solidFill>
            <a:srgbClr val="0D0C0A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1234440"/>
            <a:ext cx="12191695" cy="146304"/>
          </a:xfrm>
          <a:prstGeom prst="rect">
            <a:avLst/>
          </a:prstGeom>
          <a:solidFill>
            <a:srgbClr val="0D0C0B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371600"/>
            <a:ext cx="12191695" cy="146304"/>
          </a:xfrm>
          <a:prstGeom prst="rect">
            <a:avLst/>
          </a:prstGeom>
          <a:solidFill>
            <a:srgbClr val="0E0C0B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1508760"/>
            <a:ext cx="12191695" cy="146304"/>
          </a:xfrm>
          <a:prstGeom prst="rect">
            <a:avLst/>
          </a:prstGeom>
          <a:solidFill>
            <a:srgbClr val="0E0C0B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645920"/>
            <a:ext cx="12191695" cy="146304"/>
          </a:xfrm>
          <a:prstGeom prst="rect">
            <a:avLst/>
          </a:prstGeom>
          <a:solidFill>
            <a:srgbClr val="0E0C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1783080"/>
            <a:ext cx="12191695" cy="146304"/>
          </a:xfrm>
          <a:prstGeom prst="rect">
            <a:avLst/>
          </a:prstGeom>
          <a:solidFill>
            <a:srgbClr val="0F0D0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1920240"/>
            <a:ext cx="12191695" cy="146304"/>
          </a:xfrm>
          <a:prstGeom prst="rect">
            <a:avLst/>
          </a:prstGeom>
          <a:solidFill>
            <a:srgbClr val="0F0D0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057400"/>
            <a:ext cx="12191695" cy="146304"/>
          </a:xfrm>
          <a:prstGeom prst="rect">
            <a:avLst/>
          </a:prstGeom>
          <a:solidFill>
            <a:srgbClr val="100D0B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194560"/>
            <a:ext cx="12191695" cy="146304"/>
          </a:xfrm>
          <a:prstGeom prst="rect">
            <a:avLst/>
          </a:prstGeom>
          <a:solidFill>
            <a:srgbClr val="100D0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2331720"/>
            <a:ext cx="12191695" cy="146304"/>
          </a:xfrm>
          <a:prstGeom prst="rect">
            <a:avLst/>
          </a:prstGeom>
          <a:solidFill>
            <a:srgbClr val="100D0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468880"/>
            <a:ext cx="12191695" cy="146304"/>
          </a:xfrm>
          <a:prstGeom prst="rect">
            <a:avLst/>
          </a:prstGeom>
          <a:solidFill>
            <a:srgbClr val="110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2606040"/>
            <a:ext cx="12191695" cy="146304"/>
          </a:xfrm>
          <a:prstGeom prst="rect">
            <a:avLst/>
          </a:prstGeom>
          <a:solidFill>
            <a:srgbClr val="110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2743200"/>
            <a:ext cx="12191695" cy="146304"/>
          </a:xfrm>
          <a:prstGeom prst="rect">
            <a:avLst/>
          </a:prstGeom>
          <a:solidFill>
            <a:srgbClr val="110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2880360"/>
            <a:ext cx="12191695" cy="146304"/>
          </a:xfrm>
          <a:prstGeom prst="rect">
            <a:avLst/>
          </a:prstGeom>
          <a:solidFill>
            <a:srgbClr val="120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3017520"/>
            <a:ext cx="12191695" cy="146304"/>
          </a:xfrm>
          <a:prstGeom prst="rect">
            <a:avLst/>
          </a:prstGeom>
          <a:solidFill>
            <a:srgbClr val="120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3154680"/>
            <a:ext cx="12191695" cy="146304"/>
          </a:xfrm>
          <a:prstGeom prst="rect">
            <a:avLst/>
          </a:prstGeom>
          <a:solidFill>
            <a:srgbClr val="120F0B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146304"/>
          </a:xfrm>
          <a:prstGeom prst="rect">
            <a:avLst/>
          </a:prstGeom>
          <a:solidFill>
            <a:srgbClr val="130F0B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3429000"/>
            <a:ext cx="12191695" cy="146304"/>
          </a:xfrm>
          <a:prstGeom prst="rect">
            <a:avLst/>
          </a:prstGeom>
          <a:solidFill>
            <a:srgbClr val="130F0C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3566160"/>
            <a:ext cx="12191695" cy="146304"/>
          </a:xfrm>
          <a:prstGeom prst="rect">
            <a:avLst/>
          </a:prstGeom>
          <a:solidFill>
            <a:srgbClr val="140F0C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3703320"/>
            <a:ext cx="12191695" cy="146304"/>
          </a:xfrm>
          <a:prstGeom prst="rect">
            <a:avLst/>
          </a:prstGeom>
          <a:solidFill>
            <a:srgbClr val="14100C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3840480"/>
            <a:ext cx="12191695" cy="146304"/>
          </a:xfrm>
          <a:prstGeom prst="rect">
            <a:avLst/>
          </a:prstGeom>
          <a:solidFill>
            <a:srgbClr val="14100C"/>
          </a:solidFill>
          <a:ln/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146304"/>
          </a:xfrm>
          <a:prstGeom prst="rect">
            <a:avLst/>
          </a:prstGeom>
          <a:solidFill>
            <a:srgbClr val="15100C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4114800"/>
            <a:ext cx="12191695" cy="146304"/>
          </a:xfrm>
          <a:prstGeom prst="rect">
            <a:avLst/>
          </a:prstGeom>
          <a:solidFill>
            <a:srgbClr val="15100C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251960"/>
            <a:ext cx="12191695" cy="146304"/>
          </a:xfrm>
          <a:prstGeom prst="rect">
            <a:avLst/>
          </a:prstGeom>
          <a:solidFill>
            <a:srgbClr val="15100C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4389120"/>
            <a:ext cx="12191695" cy="146304"/>
          </a:xfrm>
          <a:prstGeom prst="rect">
            <a:avLst/>
          </a:prstGeom>
          <a:solidFill>
            <a:srgbClr val="16110C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4526280"/>
            <a:ext cx="12191695" cy="146304"/>
          </a:xfrm>
          <a:prstGeom prst="rect">
            <a:avLst/>
          </a:prstGeom>
          <a:solidFill>
            <a:srgbClr val="161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663440"/>
            <a:ext cx="12191695" cy="146304"/>
          </a:xfrm>
          <a:prstGeom prst="rect">
            <a:avLst/>
          </a:prstGeom>
          <a:solidFill>
            <a:srgbClr val="16110C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4800600"/>
            <a:ext cx="12191695" cy="146304"/>
          </a:xfrm>
          <a:prstGeom prst="rect">
            <a:avLst/>
          </a:prstGeom>
          <a:solidFill>
            <a:srgbClr val="17110C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4937760"/>
            <a:ext cx="12191695" cy="146304"/>
          </a:xfrm>
          <a:prstGeom prst="rect">
            <a:avLst/>
          </a:prstGeom>
          <a:solidFill>
            <a:srgbClr val="17110C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5074920"/>
            <a:ext cx="12191695" cy="146304"/>
          </a:xfrm>
          <a:prstGeom prst="rect">
            <a:avLst/>
          </a:prstGeom>
          <a:solidFill>
            <a:srgbClr val="18120C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5212080"/>
            <a:ext cx="12191695" cy="146304"/>
          </a:xfrm>
          <a:prstGeom prst="rect">
            <a:avLst/>
          </a:prstGeom>
          <a:solidFill>
            <a:srgbClr val="18120C"/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349240"/>
            <a:ext cx="12191695" cy="146304"/>
          </a:xfrm>
          <a:prstGeom prst="rect">
            <a:avLst/>
          </a:prstGeom>
          <a:solidFill>
            <a:srgbClr val="18120C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5486400"/>
            <a:ext cx="12191695" cy="146304"/>
          </a:xfrm>
          <a:prstGeom prst="rect">
            <a:avLst/>
          </a:prstGeom>
          <a:solidFill>
            <a:srgbClr val="19120C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5623560"/>
            <a:ext cx="12191695" cy="146304"/>
          </a:xfrm>
          <a:prstGeom prst="rect">
            <a:avLst/>
          </a:prstGeom>
          <a:solidFill>
            <a:srgbClr val="19120D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5760720"/>
            <a:ext cx="12191695" cy="146304"/>
          </a:xfrm>
          <a:prstGeom prst="rect">
            <a:avLst/>
          </a:prstGeom>
          <a:solidFill>
            <a:srgbClr val="19130D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5897880"/>
            <a:ext cx="12191695" cy="146304"/>
          </a:xfrm>
          <a:prstGeom prst="rect">
            <a:avLst/>
          </a:prstGeom>
          <a:solidFill>
            <a:srgbClr val="1A130D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035040"/>
            <a:ext cx="12191695" cy="146304"/>
          </a:xfrm>
          <a:prstGeom prst="rect">
            <a:avLst/>
          </a:prstGeom>
          <a:solidFill>
            <a:srgbClr val="1A130D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172200"/>
            <a:ext cx="12191695" cy="146304"/>
          </a:xfrm>
          <a:prstGeom prst="rect">
            <a:avLst/>
          </a:prstGeom>
          <a:solidFill>
            <a:srgbClr val="1B130D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309360"/>
            <a:ext cx="12191695" cy="146304"/>
          </a:xfrm>
          <a:prstGeom prst="rect">
            <a:avLst/>
          </a:prstGeom>
          <a:solidFill>
            <a:srgbClr val="1B130D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6446520"/>
            <a:ext cx="12191695" cy="146304"/>
          </a:xfrm>
          <a:prstGeom prst="rect">
            <a:avLst/>
          </a:prstGeom>
          <a:solidFill>
            <a:srgbClr val="1B140D"/>
          </a:solidFill>
          <a:ln/>
        </p:spPr>
      </p:sp>
      <p:sp>
        <p:nvSpPr>
          <p:cNvPr id="50" name="Shape 48"/>
          <p:cNvSpPr/>
          <p:nvPr/>
        </p:nvSpPr>
        <p:spPr>
          <a:xfrm>
            <a:off x="0" y="6583680"/>
            <a:ext cx="12191695" cy="146304"/>
          </a:xfrm>
          <a:prstGeom prst="rect">
            <a:avLst/>
          </a:prstGeom>
          <a:solidFill>
            <a:srgbClr val="1C140D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6720840"/>
            <a:ext cx="12191695" cy="146304"/>
          </a:xfrm>
          <a:prstGeom prst="rect">
            <a:avLst/>
          </a:prstGeom>
          <a:solidFill>
            <a:srgbClr val="1C140D"/>
          </a:solidFill>
          <a:ln/>
        </p:spPr>
      </p:sp>
      <p:sp>
        <p:nvSpPr>
          <p:cNvPr id="52" name="Shape 50"/>
          <p:cNvSpPr/>
          <p:nvPr/>
        </p:nvSpPr>
        <p:spPr>
          <a:xfrm>
            <a:off x="-1828754" y="4695444"/>
            <a:ext cx="15849204" cy="4325112"/>
          </a:xfrm>
          <a:prstGeom prst="ellipse">
            <a:avLst/>
          </a:prstGeom>
          <a:solidFill>
            <a:srgbClr val="1C140D"/>
          </a:solidFill>
          <a:ln/>
        </p:spPr>
      </p:sp>
      <p:sp>
        <p:nvSpPr>
          <p:cNvPr id="53" name="Shape 51"/>
          <p:cNvSpPr/>
          <p:nvPr/>
        </p:nvSpPr>
        <p:spPr>
          <a:xfrm>
            <a:off x="-1828754" y="3974592"/>
            <a:ext cx="15849204" cy="4325112"/>
          </a:xfrm>
          <a:prstGeom prst="ellipse">
            <a:avLst/>
          </a:prstGeom>
          <a:solidFill>
            <a:srgbClr val="241A10"/>
          </a:solidFill>
          <a:ln/>
        </p:spPr>
      </p:sp>
      <p:sp>
        <p:nvSpPr>
          <p:cNvPr id="54" name="Shape 52"/>
          <p:cNvSpPr/>
          <p:nvPr/>
        </p:nvSpPr>
        <p:spPr>
          <a:xfrm>
            <a:off x="-1828754" y="3253740"/>
            <a:ext cx="15849204" cy="4325112"/>
          </a:xfrm>
          <a:prstGeom prst="ellipse">
            <a:avLst/>
          </a:prstGeom>
          <a:solidFill>
            <a:srgbClr val="C2521F"/>
          </a:solidFill>
          <a:ln/>
        </p:spPr>
      </p:sp>
      <p:sp>
        <p:nvSpPr>
          <p:cNvPr id="55" name="Shape 53"/>
          <p:cNvSpPr/>
          <p:nvPr/>
        </p:nvSpPr>
        <p:spPr>
          <a:xfrm>
            <a:off x="-1828754" y="2532888"/>
            <a:ext cx="15849204" cy="4325112"/>
          </a:xfrm>
          <a:prstGeom prst="ellipse">
            <a:avLst/>
          </a:prstGeom>
          <a:solidFill>
            <a:srgbClr val="331F12"/>
          </a:solidFill>
          <a:ln/>
        </p:spPr>
      </p:sp>
      <p:sp>
        <p:nvSpPr>
          <p:cNvPr id="56" name="Shape 54"/>
          <p:cNvSpPr/>
          <p:nvPr/>
        </p:nvSpPr>
        <p:spPr>
          <a:xfrm>
            <a:off x="9052560" y="-2926080"/>
            <a:ext cx="5943600" cy="5943600"/>
          </a:xfrm>
          <a:prstGeom prst="ellipse">
            <a:avLst/>
          </a:prstGeom>
          <a:solidFill>
            <a:srgbClr val="FF6B35">
              <a:alpha val="12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14400" y="233172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[TITLE: From Spam-Site to Trusted Dubai Travel Brand]</a:t>
            </a:r>
            <a:endParaRPr lang="en-US" sz="4000" dirty="0"/>
          </a:p>
        </p:txBody>
      </p:sp>
      <p:sp>
        <p:nvSpPr>
          <p:cNvPr id="58" name="Text 56"/>
          <p:cNvSpPr/>
          <p:nvPr/>
        </p:nvSpPr>
        <p:spPr>
          <a:xfrm>
            <a:off x="914400" y="379476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[SUBTITLE: Elite Escape Tourism]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914400" y="43434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UI/UX &amp; AI TRANSFORMATION BY DIGITALBURJ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22960" y="5623560"/>
            <a:ext cx="502920" cy="502920"/>
          </a:xfrm>
          <a:prstGeom prst="arc">
            <a:avLst>
              <a:gd name="adj1" fmla="val 0"/>
              <a:gd name="adj2" fmla="val 18000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61320" y="603504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62" name="Text 60"/>
          <p:cNvSpPr/>
          <p:nvPr/>
        </p:nvSpPr>
        <p:spPr>
          <a:xfrm>
            <a:off x="10561320" y="6035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[LOGO: 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305" cy="6858000"/>
          </a:xfrm>
          <a:prstGeom prst="rect">
            <a:avLst/>
          </a:prstGeom>
          <a:solidFill>
            <a:srgbClr val="EFEAE3"/>
          </a:solidFill>
          <a:ln/>
        </p:spPr>
      </p:sp>
      <p:sp>
        <p:nvSpPr>
          <p:cNvPr id="3" name="Shape 1"/>
          <p:cNvSpPr/>
          <p:nvPr/>
        </p:nvSpPr>
        <p:spPr>
          <a:xfrm>
            <a:off x="6096305" y="0"/>
            <a:ext cx="609539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305" y="0"/>
            <a:ext cx="6095390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6087161" y="0"/>
            <a:ext cx="1828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[TITLE: Current Site Compromise]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A7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9110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Casino spam blog posts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A7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24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5694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SEO spam pages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28269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A7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2278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Lorem-ipsum FAQ content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94106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A7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41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8862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booking widgets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E4DED5"/>
          </a:solidFill>
          <a:ln w="9525">
            <a:solidFill>
              <a:srgbClr val="D2C9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9204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PLACEHOLDER: current site, pixelated, 30% desaturated]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2377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2377" y="822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[TITLE: DigitalBurj Transformation]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72377" y="1965960"/>
            <a:ext cx="274320" cy="274320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25" name="Text 23"/>
          <p:cNvSpPr/>
          <p:nvPr/>
        </p:nvSpPr>
        <p:spPr>
          <a:xfrm>
            <a:off x="6672377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29577" y="19110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De-spam &amp; malware removal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72377" y="2624328"/>
            <a:ext cx="274320" cy="274320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28" name="Text 26"/>
          <p:cNvSpPr/>
          <p:nvPr/>
        </p:nvSpPr>
        <p:spPr>
          <a:xfrm>
            <a:off x="6672377" y="2624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29577" y="25694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content restoration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72377" y="3282696"/>
            <a:ext cx="274320" cy="274320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31" name="Text 29"/>
          <p:cNvSpPr/>
          <p:nvPr/>
        </p:nvSpPr>
        <p:spPr>
          <a:xfrm>
            <a:off x="6672377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29577" y="32278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(schema.org)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72377" y="3941064"/>
            <a:ext cx="274320" cy="274320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34" name="Text 32"/>
          <p:cNvSpPr/>
          <p:nvPr/>
        </p:nvSpPr>
        <p:spPr>
          <a:xfrm>
            <a:off x="6672377" y="3941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29577" y="38862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owner dashboard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672377" y="4892040"/>
            <a:ext cx="484632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00977" y="489204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[MOCKUP PLACEHOLDER: rebuilt homepage, full color]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754" y="795528"/>
            <a:ext cx="15849204" cy="4626864"/>
          </a:xfrm>
          <a:prstGeom prst="ellipse">
            <a:avLst/>
          </a:prstGeom>
          <a:solidFill>
            <a:srgbClr val="EFE6D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754" y="24384"/>
            <a:ext cx="15849204" cy="4626864"/>
          </a:xfrm>
          <a:prstGeom prst="ellipse">
            <a:avLst/>
          </a:prstGeom>
          <a:solidFill>
            <a:srgbClr val="E7D9C8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754" y="-746760"/>
            <a:ext cx="15849204" cy="4626864"/>
          </a:xfrm>
          <a:prstGeom prst="ellipse">
            <a:avLst/>
          </a:prstGeom>
          <a:solidFill>
            <a:srgbClr val="F0C6A8"/>
          </a:solidFill>
          <a:ln/>
        </p:spPr>
      </p:sp>
      <p:sp>
        <p:nvSpPr>
          <p:cNvPr id="5" name="Shape 3"/>
          <p:cNvSpPr/>
          <p:nvPr/>
        </p:nvSpPr>
        <p:spPr>
          <a:xfrm>
            <a:off x="-1828754" y="-1517904"/>
            <a:ext cx="15849204" cy="4626864"/>
          </a:xfrm>
          <a:prstGeom prst="ellipse">
            <a:avLst/>
          </a:prstGeom>
          <a:solidFill>
            <a:srgbClr val="EFE6DC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246120"/>
            <a:ext cx="12191695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188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[TITLE: 24/7 AI-Powered Travel Concierge]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[SUBTITLE: Your Escape, Our Elite Services — automated]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732520" y="3703320"/>
            <a:ext cx="2651760" cy="137160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  <a:effectLst>
            <a:outerShdw sx="100000" sy="100000" kx="0" ky="0" algn="bl" rotWithShape="0" blurRad="203200" dist="76200" dir="5400000">
              <a:srgbClr val="FF6B3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 rot="14400000">
            <a:off x="8915400" y="4892040"/>
            <a:ext cx="274320" cy="228600"/>
          </a:xfrm>
          <a:prstGeom prst="triangl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8732520" y="3703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732520" y="4434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instant reply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749040"/>
            <a:ext cx="237744" cy="237744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703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WhatsApp replies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4315968"/>
            <a:ext cx="237744" cy="237744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159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42702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qualifies every enquiry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4882896"/>
            <a:ext cx="237744" cy="237744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48371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hand-off when needed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[FOOTER: Owner sees everything — dashboard preview]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7161" y="1005840"/>
            <a:ext cx="18288" cy="5120640"/>
          </a:xfrm>
          <a:prstGeom prst="rect">
            <a:avLst/>
          </a:prstGeom>
          <a:solidFill>
            <a:srgbClr val="DDD3C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[BODY: Lorem ipsum dolor sit amet, consectetur adipiscing elit. Sed do eiusmod tempor incididunt ut labore et dolore magna aliqua.]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low-contrast headlines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301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30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Unbounded line length (no max-width)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142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142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400 / 700 weights available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3982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398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line-height — cramped paragraphs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2377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2377" y="914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[EXAMPLE HEADLINE]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672377" y="1874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[BODY: Clear hierarchy, generous line-height, and a measured max-width make every paragraph easy to scan on any device.]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2377" y="283464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672377" y="28346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500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2377" y="3447288"/>
            <a:ext cx="201168" cy="201168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2377" y="3447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10705" y="3429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Geist variable — 400/500/600/700 in use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2377" y="3831336"/>
            <a:ext cx="201168" cy="201168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23" name="Text 21"/>
          <p:cNvSpPr/>
          <p:nvPr/>
        </p:nvSpPr>
        <p:spPr>
          <a:xfrm>
            <a:off x="6672377" y="38313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10705" y="38130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Line-height 1.6 for body copy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2377" y="4215384"/>
            <a:ext cx="201168" cy="201168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26" name="Text 24"/>
          <p:cNvSpPr/>
          <p:nvPr/>
        </p:nvSpPr>
        <p:spPr>
          <a:xfrm>
            <a:off x="6672377" y="42153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10705" y="41970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Max-width 60ch for readability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2377" y="4599432"/>
            <a:ext cx="201168" cy="201168"/>
          </a:xfrm>
          <a:prstGeom prst="ellipse">
            <a:avLst/>
          </a:prstGeom>
          <a:solidFill>
            <a:srgbClr val="2D8C6F"/>
          </a:solidFill>
          <a:ln/>
        </p:spPr>
      </p:sp>
      <p:sp>
        <p:nvSpPr>
          <p:cNvPr id="29" name="Text 27"/>
          <p:cNvSpPr/>
          <p:nvPr/>
        </p:nvSpPr>
        <p:spPr>
          <a:xfrm>
            <a:off x="6672377" y="4599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10705" y="45811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clamp(2.4rem, 6vw, 4.4rem)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&amp; SURFACE UPGRADE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10881360" cy="0"/>
          </a:xfrm>
          <a:prstGeom prst="line">
            <a:avLst/>
          </a:prstGeom>
          <a:noFill/>
          <a:ln w="9525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251960"/>
            <a:ext cx="10881360" cy="0"/>
          </a:xfrm>
          <a:prstGeom prst="line">
            <a:avLst/>
          </a:prstGeom>
          <a:noFill/>
          <a:ln w="9525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1097280"/>
            <a:ext cx="329184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 — pure white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3291840" cy="960120"/>
          </a:xfrm>
          <a:prstGeom prst="roundRect">
            <a:avLst>
              <a:gd name="adj" fmla="val 13333"/>
            </a:avLst>
          </a:prstGeom>
          <a:solidFill>
            <a:srgbClr val="F8F4F0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#F8F4F0 + 2% grain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0" y="3017520"/>
            <a:ext cx="3291840" cy="960120"/>
          </a:xfrm>
          <a:prstGeom prst="roundRect">
            <a:avLst>
              <a:gd name="adj" fmla="val 13333"/>
            </a:avLst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#0066FF — generic saturated blue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3017520"/>
            <a:ext cx="3291840" cy="96012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#FF6B35 — desert-safari orange, CTA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493776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4px 6px rgba(0,0,0,.10)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493776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6B3A1E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4px 12px rgba(45,30,15,.15)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&amp; GRID TRANSFORMATION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2578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25272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EDE7D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52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6184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equal-column forced flex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1417320" cy="1051560"/>
          </a:xfrm>
          <a:prstGeom prst="rect">
            <a:avLst/>
          </a:prstGeom>
          <a:solidFill>
            <a:srgbClr val="F1ECE4"/>
          </a:solidFill>
          <a:ln w="9525">
            <a:solidFill>
              <a:srgbClr val="E7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103120"/>
            <a:ext cx="1417320" cy="1051560"/>
          </a:xfrm>
          <a:prstGeom prst="rect">
            <a:avLst/>
          </a:prstGeom>
          <a:solidFill>
            <a:srgbClr val="F1ECE4"/>
          </a:solidFill>
          <a:ln w="9525">
            <a:solidFill>
              <a:srgbClr val="E7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9080" y="2103120"/>
            <a:ext cx="1417320" cy="1051560"/>
          </a:xfrm>
          <a:prstGeom prst="rect">
            <a:avLst/>
          </a:prstGeom>
          <a:solidFill>
            <a:srgbClr val="F1ECE4"/>
          </a:solidFill>
          <a:ln w="9525">
            <a:solidFill>
              <a:srgbClr val="E7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051560"/>
            <a:ext cx="52578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25272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252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16184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2-col zig-zag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2743200" cy="1051560"/>
          </a:xfrm>
          <a:prstGeom prst="rect">
            <a:avLst/>
          </a:prstGeom>
          <a:solidFill>
            <a:srgbClr val="F1ECE4"/>
          </a:solidFill>
          <a:ln w="9525">
            <a:solidFill>
              <a:srgbClr val="E7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2103120"/>
            <a:ext cx="1920240" cy="502920"/>
          </a:xfrm>
          <a:prstGeom prst="rect">
            <a:avLst/>
          </a:prstGeom>
          <a:solidFill>
            <a:srgbClr val="F1ECE4"/>
          </a:solidFill>
          <a:ln w="9525">
            <a:solidFill>
              <a:srgbClr val="E7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0" y="278892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886200"/>
            <a:ext cx="52578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08736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EDE7D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87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4531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Center-everything symmetry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4937760"/>
            <a:ext cx="2011680" cy="548640"/>
          </a:xfrm>
          <a:prstGeom prst="rect">
            <a:avLst/>
          </a:prstGeom>
          <a:solidFill>
            <a:srgbClr val="F1ECE4"/>
          </a:solidFill>
          <a:ln w="9525">
            <a:solidFill>
              <a:srgbClr val="E7E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83180" y="5577840"/>
            <a:ext cx="1371600" cy="411480"/>
          </a:xfrm>
          <a:prstGeom prst="rect">
            <a:avLst/>
          </a:prstGeom>
          <a:solidFill>
            <a:srgbClr val="F1ECE4"/>
          </a:solidFill>
          <a:ln w="9525">
            <a:solidFill>
              <a:srgbClr val="E7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886200"/>
            <a:ext cx="52578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408736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087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44531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Max-width 1440px, auto margins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12280" y="4937760"/>
            <a:ext cx="4251960" cy="1051560"/>
          </a:xfrm>
          <a:prstGeom prst="rect">
            <a:avLst/>
          </a:prstGeom>
          <a:solidFill>
            <a:srgbClr val="F1ECE4"/>
          </a:solidFill>
          <a:ln w="9525">
            <a:solidFill>
              <a:srgbClr val="FF6B3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INTERACTIVITY &amp; STATES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[TITLE: A button that feels alive at every step]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2423160"/>
            <a:ext cx="2286000" cy="658368"/>
          </a:xfrm>
          <a:prstGeom prst="roundRect">
            <a:avLst>
              <a:gd name="adj" fmla="val 19444"/>
            </a:avLst>
          </a:prstGeom>
          <a:solidFill>
            <a:srgbClr val="FF6B35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5820" y="2468880"/>
            <a:ext cx="2194560" cy="566928"/>
          </a:xfrm>
          <a:prstGeom prst="roundRect">
            <a:avLst>
              <a:gd name="adj" fmla="val 19355"/>
            </a:avLst>
          </a:prstGeom>
          <a:solidFill>
            <a:srgbClr val="C2521F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55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[LABEL: Hover]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9417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shift + 1.02 scale, 250ms ease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7892" y="2514600"/>
            <a:ext cx="2139696" cy="512064"/>
          </a:xfrm>
          <a:prstGeom prst="roundRect">
            <a:avLst>
              <a:gd name="adj" fmla="val 19643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707892" y="2514600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355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[LABEL: Press]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69417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scale(0.98) on :active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5100" y="2468880"/>
            <a:ext cx="2194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1948" y="2395728"/>
            <a:ext cx="2340864" cy="713232"/>
          </a:xfrm>
          <a:prstGeom prst="roundRect">
            <a:avLst>
              <a:gd name="adj" fmla="val 20513"/>
            </a:avLst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5100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Now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355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[LABEL: Focus]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69417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2px focus-visible ring, 2px offset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0" y="1828800"/>
            <a:ext cx="2606040" cy="32918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49740" y="2468880"/>
            <a:ext cx="2194560" cy="566928"/>
          </a:xfrm>
          <a:prstGeom prst="roundRect">
            <a:avLst>
              <a:gd name="adj" fmla="val 19355"/>
            </a:avLst>
          </a:prstGeom>
          <a:solidFill>
            <a:srgbClr val="EDE7DE"/>
          </a:solidFill>
          <a:ln/>
        </p:spPr>
      </p:sp>
      <p:sp>
        <p:nvSpPr>
          <p:cNvPr id="23" name="Shape 21"/>
          <p:cNvSpPr/>
          <p:nvPr/>
        </p:nvSpPr>
        <p:spPr>
          <a:xfrm>
            <a:off x="9578340" y="2715768"/>
            <a:ext cx="1737360" cy="73152"/>
          </a:xfrm>
          <a:prstGeom prst="roundRect">
            <a:avLst>
              <a:gd name="adj" fmla="val 50000"/>
            </a:avLst>
          </a:prstGeom>
          <a:solidFill>
            <a:srgbClr val="D8D0C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3355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[LABEL: Loading]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0" y="3694176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shape, dimming pulse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7161" y="960120"/>
            <a:ext cx="18288" cy="5486400"/>
          </a:xfrm>
          <a:prstGeom prst="rect">
            <a:avLst/>
          </a:prstGeom>
          <a:solidFill>
            <a:srgbClr val="DDD3C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2377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“Find Now”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2377" y="1005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2377" y="12984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“Get Visa Quote”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“Our Services”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2377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2377" y="250545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“24/7 Visa Assistance from Dubai”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419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7124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“Nulla sed volutpat libero…”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72377" y="3419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2377" y="371246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I need a transit visa for a 5-hour layover in Dubai?”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4626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91947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“From AED 4000 AED 5000 AED 4000 / person”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72377" y="46268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2377" y="49194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“From AED 4,000 per person — 6 nights, hotel + breakfast”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72377" y="6263640"/>
            <a:ext cx="3017520" cy="329184"/>
          </a:xfrm>
          <a:prstGeom prst="roundRect">
            <a:avLst>
              <a:gd name="adj" fmla="val 22222"/>
            </a:avLst>
          </a:prstGeom>
          <a:solidFill>
            <a:srgbClr val="F0E4DA"/>
          </a:solidFill>
          <a:ln/>
        </p:spPr>
      </p:sp>
      <p:sp>
        <p:nvSpPr>
          <p:cNvPr id="22" name="Text 20"/>
          <p:cNvSpPr/>
          <p:nvPr/>
        </p:nvSpPr>
        <p:spPr>
          <a:xfrm>
            <a:off x="6672377" y="62636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Lorem ipsum, no clichés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ICONOGRAPHY &amp; VISUAL ASSETS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2651760"/>
            <a:ext cx="10881360" cy="0"/>
          </a:xfrm>
          <a:prstGeom prst="line">
            <a:avLst/>
          </a:prstGeom>
          <a:noFill/>
          <a:ln w="9525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480560"/>
            <a:ext cx="10881360" cy="0"/>
          </a:xfrm>
          <a:prstGeom prst="line">
            <a:avLst/>
          </a:prstGeom>
          <a:noFill/>
          <a:ln w="9525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generic icon 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280160"/>
            <a:ext cx="502920" cy="502920"/>
          </a:xfrm>
          <a:prstGeom prst="triangle">
            <a:avLst/>
          </a:prstGeom>
          <a:ln w="15875">
            <a:solidFill>
              <a:srgbClr val="9A9A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1280160"/>
            <a:ext cx="502920" cy="502920"/>
          </a:xfrm>
          <a:prstGeom prst="chevron">
            <a:avLst/>
          </a:prstGeom>
          <a:ln w="25400">
            <a:solidFill>
              <a:srgbClr val="9A9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280160"/>
            <a:ext cx="502920" cy="502920"/>
          </a:xfrm>
          <a:prstGeom prst="pentagon">
            <a:avLst/>
          </a:prstGeom>
          <a:ln w="9525">
            <a:solidFill>
              <a:srgbClr val="9A9A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280160"/>
            <a:ext cx="502920" cy="502920"/>
          </a:xfrm>
          <a:prstGeom prst="hexagon">
            <a:avLst/>
          </a:prstGeom>
          <a:ln w="1905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stroke widths (0.75–2px), mixed styles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custom desert-motif 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3108960"/>
            <a:ext cx="502920" cy="502920"/>
          </a:xfrm>
          <a:prstGeom prst="ellipse">
            <a:avLst/>
          </a:prstGeom>
          <a:solidFill>
            <a:srgbClr val="FD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3108960"/>
            <a:ext cx="502920" cy="502920"/>
          </a:xfrm>
          <a:prstGeom prst="ellipse">
            <a:avLst/>
          </a:prstGeom>
          <a:solidFill>
            <a:srgbClr val="FD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3108960"/>
            <a:ext cx="502920" cy="502920"/>
          </a:xfrm>
          <a:prstGeom prst="ellipse">
            <a:avLst/>
          </a:prstGeom>
          <a:solidFill>
            <a:srgbClr val="FDED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0" y="3108960"/>
            <a:ext cx="502920" cy="502920"/>
          </a:xfrm>
          <a:prstGeom prst="ellipse">
            <a:avLst/>
          </a:prstGeom>
          <a:solidFill>
            <a:srgbClr val="FD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2999232" y="3172968"/>
            <a:ext cx="365760" cy="36576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3154680"/>
            <a:ext cx="201168" cy="292608"/>
          </a:xfrm>
          <a:prstGeom prst="triangl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5072" y="3447288"/>
            <a:ext cx="36576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11496" y="3127248"/>
            <a:ext cx="128016" cy="411480"/>
          </a:xfrm>
          <a:prstGeom prst="triangl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2472" y="3209544"/>
            <a:ext cx="237744" cy="237744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49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1.5px stroke, single desert-travel motif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26080" y="487375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DE7DE"/>
          </a:solidFill>
          <a:ln w="12700">
            <a:solidFill>
              <a:srgbClr val="E7E0D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926080" y="5550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0" y="487375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4873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14800" y="5550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favicon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&amp; STRUCTURAL FIX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181905" cy="5074920"/>
          </a:xfrm>
          <a:prstGeom prst="roundRect">
            <a:avLst>
              <a:gd name="adj" fmla="val 2523"/>
            </a:avLst>
          </a:prstGeom>
          <a:solidFill>
            <a:srgbClr val="111111"/>
          </a:solidFill>
          <a:ln/>
        </p:spPr>
      </p:sp>
      <p:sp>
        <p:nvSpPr>
          <p:cNvPr id="4" name="Shape 2"/>
          <p:cNvSpPr/>
          <p:nvPr/>
        </p:nvSpPr>
        <p:spPr>
          <a:xfrm>
            <a:off x="6370625" y="960120"/>
            <a:ext cx="5181905" cy="5074920"/>
          </a:xfrm>
          <a:prstGeom prst="roundRect">
            <a:avLst>
              <a:gd name="adj" fmla="val 2523"/>
            </a:avLst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14300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3A2A2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99225" y="114300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C3A30"/>
          </a:solidFill>
          <a:ln/>
        </p:spPr>
      </p:sp>
      <p:sp>
        <p:nvSpPr>
          <p:cNvPr id="8" name="Text 6"/>
          <p:cNvSpPr/>
          <p:nvPr/>
        </p:nvSpPr>
        <p:spPr>
          <a:xfrm>
            <a:off x="6599225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D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9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class="wrap"&gt;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938528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9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class="x" style="width:812px"&gt;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322576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9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style="z-index:9999"&gt;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706624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&lt;!-- TODO debug this --&gt;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090672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9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&lt;div&gt;&lt;img src="hero.jpg"&gt;&lt;/div&gt;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474720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9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class="x"&gt;&lt;div&gt;...&lt;/div&gt;&lt;/div&gt;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858768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9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4242816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9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4626864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9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99225" y="1554480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&lt;nav aria-label="Primary"&gt;…&lt;/nav&gt;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99225" y="1938528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&lt;main&gt;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99225" y="2322576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 &lt;article class="card"&gt;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99225" y="2706624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   &lt;img src="hero.jpg"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99225" y="3090672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        alt="Dubai skyline at dusk"&gt;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99225" y="3474720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   &lt;h2&gt;Visa Assistance&lt;/h2&gt;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99225" y="3858768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 &lt;/article&gt;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99225" y="4242816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8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&lt;/main&gt;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99225" y="4626864"/>
            <a:ext cx="47247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9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z-index: base 0, header 10, modal 100 */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6172200"/>
            <a:ext cx="5181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Font: Menlo / Consolas, 12pt (shown here as Courier New for portability)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[TITLE: 30 Days After Launch]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37560" cy="3566160"/>
          </a:xfrm>
          <a:prstGeom prst="roundRect">
            <a:avLst>
              <a:gd name="adj" fmla="val 4384"/>
            </a:avLst>
          </a:prstGeom>
          <a:solidFill>
            <a:srgbClr val="111111"/>
          </a:solidFill>
          <a:ln/>
          <a:effectLst>
            <a:outerShdw sx="100000" sy="100000" kx="0" ky="0" algn="bl" rotWithShape="0" blurRad="203200" dist="76200" dir="5400000">
              <a:srgbClr val="000000">
                <a:alpha val="2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33756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103120"/>
            <a:ext cx="502920" cy="502920"/>
          </a:xfrm>
          <a:prstGeom prst="ellipse">
            <a:avLst/>
          </a:prstGeom>
          <a:solidFill>
            <a:srgbClr val="1D1D1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2450592"/>
            <a:ext cx="91440" cy="-164592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2286000"/>
            <a:ext cx="91440" cy="13716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1872" y="2423160"/>
            <a:ext cx="91440" cy="-22860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88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URLs removed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 / 30]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" y="4206240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4206240"/>
            <a:ext cx="164592" cy="146304"/>
          </a:xfrm>
          <a:prstGeom prst="roundRect">
            <a:avLst>
              <a:gd name="adj" fmla="val 50000"/>
            </a:avLst>
          </a:prstGeom>
          <a:solidFill>
            <a:srgbClr val="2D8C6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480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[TARGET: 30 days]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3400" y="1691640"/>
            <a:ext cx="3337560" cy="3566160"/>
          </a:xfrm>
          <a:prstGeom prst="roundRect">
            <a:avLst>
              <a:gd name="adj" fmla="val 4384"/>
            </a:avLst>
          </a:prstGeom>
          <a:solidFill>
            <a:srgbClr val="111111"/>
          </a:solidFill>
          <a:ln/>
          <a:effectLst>
            <a:outerShdw sx="100000" sy="100000" kx="0" ky="0" algn="bl" rotWithShape="0" blurRad="203200" dist="76200" dir="5400000">
              <a:srgbClr val="000000">
                <a:alpha val="2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691640"/>
            <a:ext cx="333756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1D1D1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231136"/>
            <a:ext cx="246888" cy="246888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4044" y="2350008"/>
            <a:ext cx="0" cy="-91440"/>
          </a:xfrm>
          <a:prstGeom prst="line">
            <a:avLst/>
          </a:prstGeom>
          <a:noFill/>
          <a:ln w="15875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88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answered &lt;5 min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63440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[70% → 100%]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663440" y="4206240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4206240"/>
            <a:ext cx="1888236" cy="146304"/>
          </a:xfrm>
          <a:prstGeom prst="roundRect">
            <a:avLst>
              <a:gd name="adj" fmla="val 50000"/>
            </a:avLst>
          </a:prstGeom>
          <a:solidFill>
            <a:srgbClr val="2D8C6F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4480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[TARGET: 30 days]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1691640"/>
            <a:ext cx="3337560" cy="3566160"/>
          </a:xfrm>
          <a:prstGeom prst="roundRect">
            <a:avLst>
              <a:gd name="adj" fmla="val 4384"/>
            </a:avLst>
          </a:prstGeom>
          <a:solidFill>
            <a:srgbClr val="111111"/>
          </a:solidFill>
          <a:ln/>
          <a:effectLst>
            <a:outerShdw sx="100000" sy="100000" kx="0" ky="0" algn="bl" rotWithShape="0" blurRad="203200" dist="76200" dir="5400000">
              <a:srgbClr val="000000">
                <a:alpha val="2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1691640"/>
            <a:ext cx="333756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6760" y="2103120"/>
            <a:ext cx="502920" cy="502920"/>
          </a:xfrm>
          <a:prstGeom prst="ellipse">
            <a:avLst/>
          </a:prstGeom>
          <a:solidFill>
            <a:srgbClr val="1D1D1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85632" y="2212848"/>
            <a:ext cx="274320" cy="274320"/>
          </a:xfrm>
          <a:prstGeom prst="ellipse">
            <a:avLst/>
          </a:prstGeom>
          <a:ln w="15875">
            <a:solidFill>
              <a:srgbClr val="FF6B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77072" y="2304288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27889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citations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366760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 → 5]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8366760" y="4206240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6760" y="4206240"/>
            <a:ext cx="164592" cy="146304"/>
          </a:xfrm>
          <a:prstGeom prst="roundRect">
            <a:avLst>
              <a:gd name="adj" fmla="val 50000"/>
            </a:avLst>
          </a:prstGeom>
          <a:solidFill>
            <a:srgbClr val="2D8C6F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4480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[TARGET: 30 days]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F8F4F0"/>
          </a:solidFill>
          <a:ln/>
        </p:spPr>
      </p:sp>
      <p:sp>
        <p:nvSpPr>
          <p:cNvPr id="4" name="Shape 2"/>
          <p:cNvSpPr/>
          <p:nvPr/>
        </p:nvSpPr>
        <p:spPr>
          <a:xfrm>
            <a:off x="5111496" y="0"/>
            <a:ext cx="1828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[TITLE: Free 60-min AI Audit]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051560" cy="1051560"/>
          </a:xfrm>
          <a:prstGeom prst="ellipse">
            <a:avLst/>
          </a:prstGeom>
          <a:ln w="3175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5860" y="2395728"/>
            <a:ext cx="0" cy="-32004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" y="2395728"/>
            <a:ext cx="256032" cy="4572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664208"/>
            <a:ext cx="22860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219456" cy="21945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AI Readiness Score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219456" cy="21945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set defined together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219456" cy="21945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062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obligation, no pressure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57784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868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[TITLE: Growth Plan — AED 5,999/mo]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577840" y="1828800"/>
            <a:ext cx="182880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2514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De-spam &amp; restore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1500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1645920"/>
            <a:ext cx="1828800" cy="3474720"/>
          </a:xfrm>
          <a:prstGeom prst="roundRect">
            <a:avLst>
              <a:gd name="adj" fmla="val 7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2668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26680" y="23317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concierge 24/7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26680" y="2788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Owner dashboard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26680" y="32461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reporting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01200" y="1828800"/>
            <a:ext cx="182880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73836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38360" y="2514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automations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38360" y="2971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success lead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6263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[CTA: Start Your Free Audit Today]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110996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DigitalBurj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Elite Escape Tourism — UI/UX Transformation</dc:title>
  <dc:subject>PptxGenJS Presentation</dc:subject>
  <dc:creator>DigitalBurj</dc:creator>
  <cp:lastModifiedBy>DigitalBurj</cp:lastModifiedBy>
  <cp:revision>1</cp:revision>
  <dcterms:created xsi:type="dcterms:W3CDTF">2026-08-13T18:14:15Z</dcterms:created>
  <dcterms:modified xsi:type="dcterms:W3CDTF">2026-08-13T18:14:15Z</dcterms:modified>
</cp:coreProperties>
</file>